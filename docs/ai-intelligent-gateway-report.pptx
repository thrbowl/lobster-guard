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</a:ln>
        </p:spPr>
      </p:sp>
      <p:sp>
        <p:nvSpPr>
          <p:cNvPr id="3" name="Box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5C99"/>
          </a:solidFill>
          <a:ln w="12700">
            <a:solidFill>
              <a:srgbClr val="255C99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85800" y="1143000"/>
            <a:ext cx="72237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3400" b="1">
                <a:solidFill>
                  <a:srgbClr val="172033"/>
                </a:solidFill>
                <a:latin typeface="Microsoft YaHei"/>
                <a:ea typeface="Microsoft YaHei"/>
              </a:rPr>
              <a:t>AI 智能网关设计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232" y="1874519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600">
                <a:solidFill>
                  <a:srgbClr val="5B667A"/>
                </a:solidFill>
                <a:latin typeface="Microsoft YaHei"/>
                <a:ea typeface="Microsoft YaHei"/>
              </a:rPr>
              <a:t>面向 AI 数据链路的识别、审计与策略控制</a:t>
            </a:r>
          </a:p>
        </p:txBody>
      </p:sp>
      <p:sp>
        <p:nvSpPr>
          <p:cNvPr id="6" name="Box 6"/>
          <p:cNvSpPr/>
          <p:nvPr/>
        </p:nvSpPr>
        <p:spPr>
          <a:xfrm>
            <a:off x="713232" y="2487168"/>
            <a:ext cx="1572768" cy="384048"/>
          </a:xfrm>
          <a:prstGeom prst="roundRect">
            <a:avLst/>
          </a:prstGeom>
          <a:solidFill>
            <a:srgbClr val="255C99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全链路治理</a:t>
            </a:r>
          </a:p>
        </p:txBody>
      </p:sp>
      <p:sp>
        <p:nvSpPr>
          <p:cNvPr id="7" name="Box 7"/>
          <p:cNvSpPr/>
          <p:nvPr/>
        </p:nvSpPr>
        <p:spPr>
          <a:xfrm>
            <a:off x="2670048" y="2487168"/>
            <a:ext cx="1572768" cy="384048"/>
          </a:xfrm>
          <a:prstGeom prst="roundRect">
            <a:avLst/>
          </a:prstGeom>
          <a:solidFill>
            <a:srgbClr val="20A36B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可旁路试点</a:t>
            </a:r>
          </a:p>
        </p:txBody>
      </p:sp>
      <p:sp>
        <p:nvSpPr>
          <p:cNvPr id="8" name="Box 8"/>
          <p:cNvSpPr/>
          <p:nvPr/>
        </p:nvSpPr>
        <p:spPr>
          <a:xfrm>
            <a:off x="4626864" y="2487168"/>
            <a:ext cx="1572768" cy="384048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可强拦截生产</a:t>
            </a:r>
          </a:p>
        </p:txBody>
      </p:sp>
      <p:sp>
        <p:nvSpPr>
          <p:cNvPr id="9" name="Box 9"/>
          <p:cNvSpPr/>
          <p:nvPr/>
        </p:nvSpPr>
        <p:spPr>
          <a:xfrm>
            <a:off x="8001000" y="960120"/>
            <a:ext cx="333756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302752" y="129844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ctr"/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>汇报主线</a:t>
            </a:r>
          </a:p>
        </p:txBody>
      </p:sp>
      <p:sp>
        <p:nvSpPr>
          <p:cNvPr id="11" name="Box 11"/>
          <p:cNvSpPr/>
          <p:nvPr/>
        </p:nvSpPr>
        <p:spPr>
          <a:xfrm>
            <a:off x="8247888" y="1865376"/>
            <a:ext cx="329184" cy="329184"/>
          </a:xfrm>
          <a:prstGeom prst="roundRect">
            <a:avLst/>
          </a:prstGeom>
          <a:solidFill>
            <a:srgbClr val="D84A4A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86800" y="185623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150">
                <a:solidFill>
                  <a:srgbClr val="172033"/>
                </a:solidFill>
                <a:latin typeface="Microsoft YaHei"/>
                <a:ea typeface="Microsoft YaHei"/>
              </a:rPr>
              <a:t>风险从用户输入延伸到外发内容</a:t>
            </a:r>
          </a:p>
        </p:txBody>
      </p:sp>
      <p:sp>
        <p:nvSpPr>
          <p:cNvPr id="13" name="Box 13"/>
          <p:cNvSpPr/>
          <p:nvPr/>
        </p:nvSpPr>
        <p:spPr>
          <a:xfrm>
            <a:off x="8247888" y="2523744"/>
            <a:ext cx="329184" cy="329184"/>
          </a:xfrm>
          <a:prstGeom prst="roundRect">
            <a:avLst/>
          </a:prstGeom>
          <a:solidFill>
            <a:srgbClr val="16A3B8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86800" y="251460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150">
                <a:solidFill>
                  <a:srgbClr val="172033"/>
                </a:solidFill>
                <a:latin typeface="Microsoft YaHei"/>
                <a:ea typeface="Microsoft YaHei"/>
              </a:rPr>
              <a:t>统一信封打通多协议、多入口</a:t>
            </a:r>
          </a:p>
        </p:txBody>
      </p:sp>
      <p:sp>
        <p:nvSpPr>
          <p:cNvPr id="15" name="Box 15"/>
          <p:cNvSpPr/>
          <p:nvPr/>
        </p:nvSpPr>
        <p:spPr>
          <a:xfrm>
            <a:off x="8247888" y="3182112"/>
            <a:ext cx="329184" cy="329184"/>
          </a:xfrm>
          <a:prstGeom prst="roundRect">
            <a:avLst/>
          </a:prstGeom>
          <a:solidFill>
            <a:srgbClr val="20A36B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86800" y="317296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150">
                <a:solidFill>
                  <a:srgbClr val="172033"/>
                </a:solidFill>
                <a:latin typeface="Microsoft YaHei"/>
                <a:ea typeface="Microsoft YaHei"/>
              </a:rPr>
              <a:t>observe 低风险起步，enforce 强治理</a:t>
            </a:r>
          </a:p>
        </p:txBody>
      </p:sp>
      <p:sp>
        <p:nvSpPr>
          <p:cNvPr id="17" name="Box 17"/>
          <p:cNvSpPr/>
          <p:nvPr/>
        </p:nvSpPr>
        <p:spPr>
          <a:xfrm>
            <a:off x="8247888" y="3840480"/>
            <a:ext cx="329184" cy="329184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86800" y="3831336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150">
                <a:solidFill>
                  <a:srgbClr val="172033"/>
                </a:solidFill>
                <a:latin typeface="Microsoft YaHei"/>
                <a:ea typeface="Microsoft YaHei"/>
              </a:rPr>
              <a:t>OpenResty + 路由表支撑现场落地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520" y="60167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900">
                <a:solidFill>
                  <a:srgbClr val="5B667A"/>
                </a:solidFill>
                <a:latin typeface="Microsoft YaHei"/>
                <a:ea typeface="Microsoft YaHei"/>
              </a:rPr>
              <a:t>根据 docs/ai-intelligent-gateway-design.md 生成，控制在 10 页以内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1. 核心判断：AI 风险在完整链路中产生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不只拦截“系统到 LLM 的 API”，而是治理用户、Agent、RAG、工具和外发内容的闭环。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594360" y="1965960"/>
            <a:ext cx="1216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用户输入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1819656" y="2295144"/>
            <a:ext cx="466343" cy="0"/>
          </a:xfrm>
          <a:prstGeom prst="straightConnector1">
            <a:avLst/>
          </a:prstGeom>
          <a:ln w="22860">
            <a:solidFill>
              <a:srgbClr val="5B667A"/>
            </a:solidFill>
            <a:tailEnd type="triangle"/>
          </a:ln>
        </p:spPr>
      </p:cxnSp>
      <p:sp>
        <p:nvSpPr>
          <p:cNvPr id="7" name="Box 7"/>
          <p:cNvSpPr/>
          <p:nvPr/>
        </p:nvSpPr>
        <p:spPr>
          <a:xfrm>
            <a:off x="2331720" y="1965960"/>
            <a:ext cx="1216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业务拼接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557015" y="2295144"/>
            <a:ext cx="466344" cy="0"/>
          </a:xfrm>
          <a:prstGeom prst="straightConnector1">
            <a:avLst/>
          </a:prstGeom>
          <a:ln w="22860">
            <a:solidFill>
              <a:srgbClr val="5B667A"/>
            </a:solidFill>
            <a:tailEnd type="triangle"/>
          </a:ln>
        </p:spPr>
      </p:cxnSp>
      <p:sp>
        <p:nvSpPr>
          <p:cNvPr id="9" name="Box 9"/>
          <p:cNvSpPr/>
          <p:nvPr/>
        </p:nvSpPr>
        <p:spPr>
          <a:xfrm>
            <a:off x="4069080" y="1965960"/>
            <a:ext cx="1216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RAG 检索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5294376" y="2295144"/>
            <a:ext cx="466343" cy="0"/>
          </a:xfrm>
          <a:prstGeom prst="straightConnector1">
            <a:avLst/>
          </a:prstGeom>
          <a:ln w="22860">
            <a:solidFill>
              <a:srgbClr val="5B667A"/>
            </a:solidFill>
            <a:tailEnd type="triangle"/>
          </a:ln>
        </p:spPr>
      </p:cxnSp>
      <p:sp>
        <p:nvSpPr>
          <p:cNvPr id="11" name="Box 11"/>
          <p:cNvSpPr/>
          <p:nvPr/>
        </p:nvSpPr>
        <p:spPr>
          <a:xfrm>
            <a:off x="5806440" y="1965960"/>
            <a:ext cx="1216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工具调用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7031736" y="2295144"/>
            <a:ext cx="466343" cy="0"/>
          </a:xfrm>
          <a:prstGeom prst="straightConnector1">
            <a:avLst/>
          </a:prstGeom>
          <a:ln w="22860">
            <a:solidFill>
              <a:srgbClr val="5B667A"/>
            </a:solidFill>
            <a:tailEnd type="triangle"/>
          </a:ln>
        </p:spPr>
      </p:cxnSp>
      <p:sp>
        <p:nvSpPr>
          <p:cNvPr id="13" name="Box 13"/>
          <p:cNvSpPr/>
          <p:nvPr/>
        </p:nvSpPr>
        <p:spPr>
          <a:xfrm>
            <a:off x="7543800" y="1965960"/>
            <a:ext cx="1216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模型响应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8769096" y="2295144"/>
            <a:ext cx="466343" cy="0"/>
          </a:xfrm>
          <a:prstGeom prst="straightConnector1">
            <a:avLst/>
          </a:prstGeom>
          <a:ln w="22860">
            <a:solidFill>
              <a:srgbClr val="5B667A"/>
            </a:solidFill>
            <a:tailEnd type="triangle"/>
          </a:ln>
        </p:spPr>
      </p:cxnSp>
      <p:sp>
        <p:nvSpPr>
          <p:cNvPr id="15" name="Box 15"/>
          <p:cNvSpPr/>
          <p:nvPr/>
        </p:nvSpPr>
        <p:spPr>
          <a:xfrm>
            <a:off x="9281160" y="1965960"/>
            <a:ext cx="1216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最终外发</a:t>
            </a:r>
          </a:p>
        </p:txBody>
      </p:sp>
      <p:sp>
        <p:nvSpPr>
          <p:cNvPr id="16" name="Box 16"/>
          <p:cNvSpPr/>
          <p:nvPr/>
        </p:nvSpPr>
        <p:spPr>
          <a:xfrm>
            <a:off x="411480" y="2971800"/>
            <a:ext cx="1508760" cy="685800"/>
          </a:xfrm>
          <a:prstGeom prst="roundRect">
            <a:avLst/>
          </a:prstGeom>
          <a:solidFill>
            <a:srgbClr val="FDEDEE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Prompt injection</a:t>
            </a:r>
          </a:p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越权意图</a:t>
            </a:r>
          </a:p>
        </p:txBody>
      </p:sp>
      <p:sp>
        <p:nvSpPr>
          <p:cNvPr id="17" name="Box 17"/>
          <p:cNvSpPr/>
          <p:nvPr/>
        </p:nvSpPr>
        <p:spPr>
          <a:xfrm>
            <a:off x="2212848" y="3502152"/>
            <a:ext cx="1508760" cy="685800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引入越权上下文</a:t>
            </a:r>
          </a:p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污染系统提示</a:t>
            </a:r>
          </a:p>
        </p:txBody>
      </p:sp>
      <p:sp>
        <p:nvSpPr>
          <p:cNvPr id="18" name="Box 18"/>
          <p:cNvSpPr/>
          <p:nvPr/>
        </p:nvSpPr>
        <p:spPr>
          <a:xfrm>
            <a:off x="3977639" y="2971800"/>
            <a:ext cx="1508760" cy="68580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跨租户/跨权限</a:t>
            </a:r>
          </a:p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高密级数据命中</a:t>
            </a:r>
          </a:p>
        </p:txBody>
      </p:sp>
      <p:sp>
        <p:nvSpPr>
          <p:cNvPr id="19" name="Box 19"/>
          <p:cNvSpPr/>
          <p:nvPr/>
        </p:nvSpPr>
        <p:spPr>
          <a:xfrm>
            <a:off x="5696712" y="3502152"/>
            <a:ext cx="1508760" cy="685800"/>
          </a:xfrm>
          <a:prstGeom prst="roundRect">
            <a:avLst/>
          </a:prstGeom>
          <a:solidFill>
            <a:srgbClr val="E8F8FB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真实副作用</a:t>
            </a:r>
          </a:p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读写/发送/导出</a:t>
            </a:r>
          </a:p>
        </p:txBody>
      </p:sp>
      <p:sp>
        <p:nvSpPr>
          <p:cNvPr id="20" name="Box 20"/>
          <p:cNvSpPr/>
          <p:nvPr/>
        </p:nvSpPr>
        <p:spPr>
          <a:xfrm>
            <a:off x="7452360" y="2971800"/>
            <a:ext cx="1508760" cy="68580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敏感信息泄露</a:t>
            </a:r>
          </a:p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系统提示词泄露</a:t>
            </a:r>
          </a:p>
        </p:txBody>
      </p:sp>
      <p:sp>
        <p:nvSpPr>
          <p:cNvPr id="21" name="Box 21"/>
          <p:cNvSpPr/>
          <p:nvPr/>
        </p:nvSpPr>
        <p:spPr>
          <a:xfrm>
            <a:off x="9162288" y="3502152"/>
            <a:ext cx="1508760" cy="6858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危险内容</a:t>
            </a:r>
          </a:p>
          <a:p>
            <a:pPr algn="ctr"/>
            <a:r>
              <a:rPr lang="zh-CN" sz="1050">
                <a:solidFill>
                  <a:srgbClr val="172033"/>
                </a:solidFill>
                <a:latin typeface="Microsoft YaHei"/>
                <a:ea typeface="Microsoft YaHei"/>
              </a:rPr>
              <a:t>直接返回用户</a:t>
            </a:r>
          </a:p>
        </p:txBody>
      </p:sp>
      <p:sp>
        <p:nvSpPr>
          <p:cNvPr id="22" name="Box 22"/>
          <p:cNvSpPr/>
          <p:nvPr/>
        </p:nvSpPr>
        <p:spPr>
          <a:xfrm>
            <a:off x="713232" y="5166360"/>
            <a:ext cx="10744200" cy="71323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设计原则：普通流量走轻量治理；AI 相关流量进入深度治理；关键链路必须可审计、可追踪、可策略控制。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2. 总体架构：四类网关覆盖 AI 数据链路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入口、LLM、Tool、出口各司其职，但共用统一策略、审计、文件保存和 trace。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502920" y="2194560"/>
            <a:ext cx="1143000" cy="5943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用户 / IM / Web</a:t>
            </a:r>
          </a:p>
        </p:txBody>
      </p:sp>
      <p:sp>
        <p:nvSpPr>
          <p:cNvPr id="6" name="Box 6"/>
          <p:cNvSpPr/>
          <p:nvPr/>
        </p:nvSpPr>
        <p:spPr>
          <a:xfrm>
            <a:off x="2011680" y="2194560"/>
            <a:ext cx="1188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255C99"/>
                </a:solidFill>
                <a:latin typeface="Microsoft YaHei"/>
                <a:ea typeface="Microsoft YaHei"/>
              </a:rPr>
              <a:t>入口网关</a:t>
            </a:r>
          </a:p>
        </p:txBody>
      </p:sp>
      <p:sp>
        <p:nvSpPr>
          <p:cNvPr id="7" name="Box 7"/>
          <p:cNvSpPr/>
          <p:nvPr/>
        </p:nvSpPr>
        <p:spPr>
          <a:xfrm>
            <a:off x="3657600" y="2194560"/>
            <a:ext cx="1417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50" b="1">
                <a:solidFill>
                  <a:srgbClr val="172033"/>
                </a:solidFill>
                <a:latin typeface="Microsoft YaHei"/>
                <a:ea typeface="Microsoft YaHei"/>
              </a:rPr>
              <a:t>业务系统 / Agent</a:t>
            </a:r>
          </a:p>
        </p:txBody>
      </p:sp>
      <p:sp>
        <p:nvSpPr>
          <p:cNvPr id="8" name="Box 8"/>
          <p:cNvSpPr/>
          <p:nvPr/>
        </p:nvSpPr>
        <p:spPr>
          <a:xfrm>
            <a:off x="5715000" y="132588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7057B8"/>
                </a:solidFill>
                <a:latin typeface="Microsoft YaHei"/>
                <a:ea typeface="Microsoft YaHei"/>
              </a:rPr>
              <a:t>LLM 网关</a:t>
            </a:r>
          </a:p>
        </p:txBody>
      </p:sp>
      <p:sp>
        <p:nvSpPr>
          <p:cNvPr id="9" name="Box 9"/>
          <p:cNvSpPr/>
          <p:nvPr/>
        </p:nvSpPr>
        <p:spPr>
          <a:xfrm>
            <a:off x="7543800" y="1325880"/>
            <a:ext cx="1325880" cy="59436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模型供应商</a:t>
            </a:r>
          </a:p>
        </p:txBody>
      </p:sp>
      <p:sp>
        <p:nvSpPr>
          <p:cNvPr id="10" name="Box 10"/>
          <p:cNvSpPr/>
          <p:nvPr/>
        </p:nvSpPr>
        <p:spPr>
          <a:xfrm>
            <a:off x="5715000" y="3063240"/>
            <a:ext cx="13258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16A3B8"/>
                </a:solidFill>
                <a:latin typeface="Microsoft YaHei"/>
                <a:ea typeface="Microsoft YaHei"/>
              </a:rPr>
              <a:t>Tool 网关</a:t>
            </a:r>
          </a:p>
        </p:txBody>
      </p:sp>
      <p:sp>
        <p:nvSpPr>
          <p:cNvPr id="11" name="Box 11"/>
          <p:cNvSpPr/>
          <p:nvPr/>
        </p:nvSpPr>
        <p:spPr>
          <a:xfrm>
            <a:off x="7543800" y="3063240"/>
            <a:ext cx="1508760" cy="594360"/>
          </a:xfrm>
          <a:prstGeom prst="roundRect">
            <a:avLst/>
          </a:prstGeom>
          <a:solidFill>
            <a:srgbClr val="E8F8FB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业务 API / DB / 文件</a:t>
            </a:r>
          </a:p>
        </p:txBody>
      </p:sp>
      <p:sp>
        <p:nvSpPr>
          <p:cNvPr id="12" name="Box 12"/>
          <p:cNvSpPr/>
          <p:nvPr/>
        </p:nvSpPr>
        <p:spPr>
          <a:xfrm>
            <a:off x="9738360" y="2194560"/>
            <a:ext cx="1188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20A36B"/>
                </a:solidFill>
                <a:latin typeface="Microsoft YaHei"/>
                <a:ea typeface="Microsoft YaHei"/>
              </a:rPr>
              <a:t>出口网关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1645920" y="2487168"/>
            <a:ext cx="347472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14" name="Arrow 14"/>
          <p:cNvCxnSpPr/>
          <p:nvPr/>
        </p:nvCxnSpPr>
        <p:spPr>
          <a:xfrm>
            <a:off x="3200400" y="2487168"/>
            <a:ext cx="438912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15" name="Arrow 15"/>
          <p:cNvCxnSpPr/>
          <p:nvPr/>
        </p:nvCxnSpPr>
        <p:spPr>
          <a:xfrm flipV="1">
            <a:off x="5074920" y="1627632"/>
            <a:ext cx="594360" cy="64008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16" name="Arrow 16"/>
          <p:cNvCxnSpPr/>
          <p:nvPr/>
        </p:nvCxnSpPr>
        <p:spPr>
          <a:xfrm>
            <a:off x="7040880" y="1627632"/>
            <a:ext cx="457199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17" name="Arrow 17"/>
          <p:cNvCxnSpPr/>
          <p:nvPr/>
        </p:nvCxnSpPr>
        <p:spPr>
          <a:xfrm>
            <a:off x="5074920" y="2715768"/>
            <a:ext cx="594360" cy="649224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18" name="Arrow 18"/>
          <p:cNvCxnSpPr/>
          <p:nvPr/>
        </p:nvCxnSpPr>
        <p:spPr>
          <a:xfrm>
            <a:off x="7040880" y="3364992"/>
            <a:ext cx="457199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 flipV="1">
            <a:off x="9098280" y="2697480"/>
            <a:ext cx="576072" cy="667512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8869680" y="1627632"/>
            <a:ext cx="804672" cy="64008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10927080" y="2487168"/>
            <a:ext cx="548640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sp>
        <p:nvSpPr>
          <p:cNvPr id="22" name="Box 22"/>
          <p:cNvSpPr/>
          <p:nvPr/>
        </p:nvSpPr>
        <p:spPr>
          <a:xfrm>
            <a:off x="1965960" y="4617720"/>
            <a:ext cx="8549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统一能力层：GatewayEnvelope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 | 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策略动作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 | 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审计账本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 | 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Trace 串联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 |  </a:t>
            </a:r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 文件与多模态保存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1408" y="5559552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ctr"/>
            <a:r>
              <a:rPr lang="zh-CN" sz="1100">
                <a:solidFill>
                  <a:srgbClr val="5B667A"/>
                </a:solidFill>
                <a:latin typeface="Microsoft YaHei"/>
                <a:ea typeface="Microsoft YaHei"/>
              </a:rPr>
              <a:t>协议适配和下一跳路由可变化；安全治理、审计和策略决策必须统一。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3. 治理对象与策略动作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第一阶段抓住关键数据面，动作不只有 block，支持从记录到强拦截的连续治理。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685800" y="1417320"/>
            <a:ext cx="2057400" cy="41148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数据面</a:t>
            </a:r>
          </a:p>
        </p:txBody>
      </p:sp>
      <p:sp>
        <p:nvSpPr>
          <p:cNvPr id="6" name="Box 6"/>
          <p:cNvSpPr/>
          <p:nvPr/>
        </p:nvSpPr>
        <p:spPr>
          <a:xfrm>
            <a:off x="2971800" y="1417320"/>
            <a:ext cx="3337560" cy="41148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</a:p>
        </p:txBody>
      </p:sp>
      <p:sp>
        <p:nvSpPr>
          <p:cNvPr id="7" name="Box 7"/>
          <p:cNvSpPr/>
          <p:nvPr/>
        </p:nvSpPr>
        <p:spPr>
          <a:xfrm>
            <a:off x="6537960" y="1417320"/>
            <a:ext cx="4251960" cy="41148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后续增强</a:t>
            </a:r>
          </a:p>
        </p:txBody>
      </p:sp>
      <p:sp>
        <p:nvSpPr>
          <p:cNvPr id="8" name="Box 8"/>
          <p:cNvSpPr/>
          <p:nvPr/>
        </p:nvSpPr>
        <p:spPr>
          <a:xfrm>
            <a:off x="685800" y="1901952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用户输入 / 上传文件</a:t>
            </a:r>
          </a:p>
        </p:txBody>
      </p:sp>
      <p:sp>
        <p:nvSpPr>
          <p:cNvPr id="9" name="Box 9"/>
          <p:cNvSpPr/>
          <p:nvPr/>
        </p:nvSpPr>
        <p:spPr>
          <a:xfrm>
            <a:off x="2971800" y="1901952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文本抽取、基础 DLP、trace、文件保存</a:t>
            </a:r>
          </a:p>
        </p:txBody>
      </p:sp>
      <p:sp>
        <p:nvSpPr>
          <p:cNvPr id="10" name="Box 10"/>
          <p:cNvSpPr/>
          <p:nvPr/>
        </p:nvSpPr>
        <p:spPr>
          <a:xfrm>
            <a:off x="6537960" y="1901952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OCR、ASR、视频抽帧、病毒扫描</a:t>
            </a:r>
          </a:p>
        </p:txBody>
      </p:sp>
      <p:sp>
        <p:nvSpPr>
          <p:cNvPr id="11" name="Box 11"/>
          <p:cNvSpPr/>
          <p:nvPr/>
        </p:nvSpPr>
        <p:spPr>
          <a:xfrm>
            <a:off x="685800" y="2468880"/>
            <a:ext cx="205740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LLM 请求 / 响应</a:t>
            </a:r>
          </a:p>
        </p:txBody>
      </p:sp>
      <p:sp>
        <p:nvSpPr>
          <p:cNvPr id="12" name="Box 12"/>
          <p:cNvSpPr/>
          <p:nvPr/>
        </p:nvSpPr>
        <p:spPr>
          <a:xfrm>
            <a:off x="2971800" y="2468880"/>
            <a:ext cx="333756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messages、tools、model、流式响应审计</a:t>
            </a:r>
          </a:p>
        </p:txBody>
      </p:sp>
      <p:sp>
        <p:nvSpPr>
          <p:cNvPr id="13" name="Box 13"/>
          <p:cNvSpPr/>
          <p:nvPr/>
        </p:nvSpPr>
        <p:spPr>
          <a:xfrm>
            <a:off x="6537960" y="2468880"/>
            <a:ext cx="425196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语义检测、模型复核、细粒度 rewrite</a:t>
            </a:r>
          </a:p>
        </p:txBody>
      </p:sp>
      <p:sp>
        <p:nvSpPr>
          <p:cNvPr id="14" name="Box 14"/>
          <p:cNvSpPr/>
          <p:nvPr/>
        </p:nvSpPr>
        <p:spPr>
          <a:xfrm>
            <a:off x="685800" y="3035808"/>
            <a:ext cx="2057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RAG / 工具调用</a:t>
            </a:r>
          </a:p>
        </p:txBody>
      </p:sp>
      <p:sp>
        <p:nvSpPr>
          <p:cNvPr id="15" name="Box 15"/>
          <p:cNvSpPr/>
          <p:nvPr/>
        </p:nvSpPr>
        <p:spPr>
          <a:xfrm>
            <a:off x="2971800" y="3035808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记录 query、文档、tool 参数、结果和错误</a:t>
            </a:r>
          </a:p>
        </p:txBody>
      </p:sp>
      <p:sp>
        <p:nvSpPr>
          <p:cNvPr id="16" name="Box 16"/>
          <p:cNvSpPr/>
          <p:nvPr/>
        </p:nvSpPr>
        <p:spPr>
          <a:xfrm>
            <a:off x="6537960" y="3035808"/>
            <a:ext cx="4251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权限校验、工具边界、反事实验证</a:t>
            </a:r>
          </a:p>
        </p:txBody>
      </p:sp>
      <p:sp>
        <p:nvSpPr>
          <p:cNvPr id="17" name="Box 17"/>
          <p:cNvSpPr/>
          <p:nvPr/>
        </p:nvSpPr>
        <p:spPr>
          <a:xfrm>
            <a:off x="685800" y="3602736"/>
            <a:ext cx="205740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最终外发内容</a:t>
            </a:r>
          </a:p>
        </p:txBody>
      </p:sp>
      <p:sp>
        <p:nvSpPr>
          <p:cNvPr id="18" name="Box 18"/>
          <p:cNvSpPr/>
          <p:nvPr/>
        </p:nvSpPr>
        <p:spPr>
          <a:xfrm>
            <a:off x="2971800" y="3602736"/>
            <a:ext cx="333756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外发审计、响应 DLP、canary token</a:t>
            </a:r>
          </a:p>
        </p:txBody>
      </p:sp>
      <p:sp>
        <p:nvSpPr>
          <p:cNvPr id="19" name="Box 19"/>
          <p:cNvSpPr/>
          <p:nvPr/>
        </p:nvSpPr>
        <p:spPr>
          <a:xfrm>
            <a:off x="6537960" y="3602736"/>
            <a:ext cx="425196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7DDE8"/>
            </a:solidFill>
          </a:ln>
        </p:spPr>
        <p:txBody>
          <a:bodyPr wrap="square" anchor="mid" lIns="73152" tIns="36576" rIns="73152" bIns="36576"/>
          <a:lstStyle/>
          <a:p>
            <a:pPr algn="l"/>
            <a:r>
              <a:rPr lang="zh-CN" sz="1030">
                <a:solidFill>
                  <a:srgbClr val="172033"/>
                </a:solidFill>
                <a:latin typeface="Microsoft YaHei"/>
                <a:ea typeface="Microsoft YaHei"/>
              </a:rPr>
              <a:t>高危动作人工确认、策略闭环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7240" y="47365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策略动作阶梯</a:t>
            </a:r>
          </a:p>
        </p:txBody>
      </p:sp>
      <p:sp>
        <p:nvSpPr>
          <p:cNvPr id="21" name="Box 21"/>
          <p:cNvSpPr/>
          <p:nvPr/>
        </p:nvSpPr>
        <p:spPr>
          <a:xfrm>
            <a:off x="2743200" y="4709160"/>
            <a:ext cx="749808" cy="384048"/>
          </a:xfrm>
          <a:prstGeom prst="roundRect">
            <a:avLst/>
          </a:prstGeom>
          <a:solidFill>
            <a:srgbClr val="20A36B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allow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3502152" y="4901184"/>
            <a:ext cx="155447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23" name="Box 23"/>
          <p:cNvSpPr/>
          <p:nvPr/>
        </p:nvSpPr>
        <p:spPr>
          <a:xfrm>
            <a:off x="3703320" y="4709160"/>
            <a:ext cx="749808" cy="384048"/>
          </a:xfrm>
          <a:prstGeom prst="roundRect">
            <a:avLst/>
          </a:prstGeom>
          <a:solidFill>
            <a:srgbClr val="255C99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log</a:t>
            </a:r>
          </a:p>
        </p:txBody>
      </p:sp>
      <p:cxnSp>
        <p:nvCxnSpPr>
          <p:cNvPr id="24" name="Arrow 24"/>
          <p:cNvCxnSpPr/>
          <p:nvPr/>
        </p:nvCxnSpPr>
        <p:spPr>
          <a:xfrm>
            <a:off x="4462272" y="4901184"/>
            <a:ext cx="155447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25" name="Box 25"/>
          <p:cNvSpPr/>
          <p:nvPr/>
        </p:nvSpPr>
        <p:spPr>
          <a:xfrm>
            <a:off x="4663440" y="4709160"/>
            <a:ext cx="749808" cy="384048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warn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5422392" y="4901184"/>
            <a:ext cx="155448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27" name="Box 27"/>
          <p:cNvSpPr/>
          <p:nvPr/>
        </p:nvSpPr>
        <p:spPr>
          <a:xfrm>
            <a:off x="5623560" y="4709160"/>
            <a:ext cx="749808" cy="384048"/>
          </a:xfrm>
          <a:prstGeom prst="roundRect">
            <a:avLst/>
          </a:prstGeom>
          <a:solidFill>
            <a:srgbClr val="16A3B8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redact</a:t>
            </a:r>
          </a:p>
        </p:txBody>
      </p:sp>
      <p:cxnSp>
        <p:nvCxnSpPr>
          <p:cNvPr id="28" name="Arrow 28"/>
          <p:cNvCxnSpPr/>
          <p:nvPr/>
        </p:nvCxnSpPr>
        <p:spPr>
          <a:xfrm>
            <a:off x="6382512" y="4901184"/>
            <a:ext cx="155447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29" name="Box 29"/>
          <p:cNvSpPr/>
          <p:nvPr/>
        </p:nvSpPr>
        <p:spPr>
          <a:xfrm>
            <a:off x="6583680" y="4709160"/>
            <a:ext cx="749808" cy="384048"/>
          </a:xfrm>
          <a:prstGeom prst="roundRect">
            <a:avLst/>
          </a:prstGeom>
          <a:solidFill>
            <a:srgbClr val="7057B8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rewrite</a:t>
            </a:r>
          </a:p>
        </p:txBody>
      </p:sp>
      <p:cxnSp>
        <p:nvCxnSpPr>
          <p:cNvPr id="30" name="Arrow 30"/>
          <p:cNvCxnSpPr/>
          <p:nvPr/>
        </p:nvCxnSpPr>
        <p:spPr>
          <a:xfrm>
            <a:off x="7342631" y="4901184"/>
            <a:ext cx="155447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31" name="Box 31"/>
          <p:cNvSpPr/>
          <p:nvPr/>
        </p:nvSpPr>
        <p:spPr>
          <a:xfrm>
            <a:off x="7543800" y="4709160"/>
            <a:ext cx="749808" cy="384048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review</a:t>
            </a:r>
          </a:p>
        </p:txBody>
      </p:sp>
      <p:cxnSp>
        <p:nvCxnSpPr>
          <p:cNvPr id="32" name="Arrow 32"/>
          <p:cNvCxnSpPr/>
          <p:nvPr/>
        </p:nvCxnSpPr>
        <p:spPr>
          <a:xfrm>
            <a:off x="8302752" y="4901184"/>
            <a:ext cx="155447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33" name="Box 33"/>
          <p:cNvSpPr/>
          <p:nvPr/>
        </p:nvSpPr>
        <p:spPr>
          <a:xfrm>
            <a:off x="8503920" y="4709160"/>
            <a:ext cx="749808" cy="384048"/>
          </a:xfrm>
          <a:prstGeom prst="roundRect">
            <a:avLst/>
          </a:prstGeom>
          <a:solidFill>
            <a:srgbClr val="D84A4A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confirm</a:t>
            </a:r>
          </a:p>
        </p:txBody>
      </p:sp>
      <p:cxnSp>
        <p:nvCxnSpPr>
          <p:cNvPr id="34" name="Arrow 34"/>
          <p:cNvCxnSpPr/>
          <p:nvPr/>
        </p:nvCxnSpPr>
        <p:spPr>
          <a:xfrm>
            <a:off x="9262872" y="4901184"/>
            <a:ext cx="155447" cy="0"/>
          </a:xfrm>
          <a:prstGeom prst="straightConnector1">
            <a:avLst/>
          </a:prstGeom>
          <a:ln w="15240">
            <a:solidFill>
              <a:srgbClr val="5B667A"/>
            </a:solidFill>
            <a:tailEnd type="triangle"/>
          </a:ln>
        </p:spPr>
      </p:cxnSp>
      <p:sp>
        <p:nvSpPr>
          <p:cNvPr id="35" name="Box 35"/>
          <p:cNvSpPr/>
          <p:nvPr/>
        </p:nvSpPr>
        <p:spPr>
          <a:xfrm>
            <a:off x="9464040" y="4709160"/>
            <a:ext cx="749808" cy="384048"/>
          </a:xfrm>
          <a:prstGeom prst="roundRect">
            <a:avLst/>
          </a:prstGeom>
          <a:solidFill>
            <a:srgbClr val="D84A4A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Microsoft YaHei"/>
                <a:ea typeface="Microsoft YaHei"/>
              </a:rPr>
              <a:t>block</a:t>
            </a:r>
          </a:p>
        </p:txBody>
      </p:sp>
      <p:sp>
        <p:nvSpPr>
          <p:cNvPr id="36" name="Box 36"/>
          <p:cNvSpPr/>
          <p:nvPr/>
        </p:nvSpPr>
        <p:spPr>
          <a:xfrm>
            <a:off x="777240" y="5577840"/>
            <a:ext cx="10469880" cy="411480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50" b="1">
                <a:solidFill>
                  <a:srgbClr val="172033"/>
                </a:solidFill>
                <a:latin typeface="Microsoft YaHei"/>
                <a:ea typeface="Microsoft YaHei"/>
              </a:rPr>
              <a:t>observe 模式可记录 would-block；需要实时 block / rewrite / confirm 时切换 enforce。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4. 统一处理管线：快路径兜底，深度路径聚焦 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统一信封是核心抽象，把不同入口归一为可检测、可审计、可路由的数据结构。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685800" y="2148840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任意入口流量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1920240" y="2432304"/>
            <a:ext cx="621791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7" name="Box 7"/>
          <p:cNvSpPr/>
          <p:nvPr/>
        </p:nvSpPr>
        <p:spPr>
          <a:xfrm>
            <a:off x="2578608" y="1920240"/>
            <a:ext cx="1600200" cy="100584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GatewayEnvelope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租户 / 应用 / 用户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会话 / trace / 内容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178808" y="2432304"/>
            <a:ext cx="466343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9" name="Box 9"/>
          <p:cNvSpPr/>
          <p:nvPr/>
        </p:nvSpPr>
        <p:spPr>
          <a:xfrm>
            <a:off x="4681728" y="1188720"/>
            <a:ext cx="2011680" cy="96012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快路径</a:t>
            </a:r>
          </a:p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鉴权、trace、限流</a:t>
            </a:r>
          </a:p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基础 DLP、规则扫描</a:t>
            </a:r>
          </a:p>
        </p:txBody>
      </p:sp>
      <p:sp>
        <p:nvSpPr>
          <p:cNvPr id="10" name="Box 10"/>
          <p:cNvSpPr/>
          <p:nvPr/>
        </p:nvSpPr>
        <p:spPr>
          <a:xfrm>
            <a:off x="4681728" y="2880360"/>
            <a:ext cx="2011680" cy="1051560"/>
          </a:xfrm>
          <a:prstGeom prst="roundRect">
            <a:avLst/>
          </a:prstGeom>
          <a:solidFill>
            <a:srgbClr val="FDEDEE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深度路径</a:t>
            </a:r>
          </a:p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Prompt injection</a:t>
            </a:r>
          </a:p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RAG / 工具越权</a:t>
            </a:r>
          </a:p>
          <a:p>
            <a:pPr algn="ctr"/>
            <a:r>
              <a:rPr lang="zh-CN" sz="1100" b="1">
                <a:solidFill>
                  <a:srgbClr val="172033"/>
                </a:solidFill>
                <a:latin typeface="Microsoft YaHei"/>
                <a:ea typeface="Microsoft YaHei"/>
              </a:rPr>
              <a:t>响应泄露检测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6693408" y="1664208"/>
            <a:ext cx="640079" cy="493775"/>
          </a:xfrm>
          <a:prstGeom prst="straightConnector1">
            <a:avLst/>
          </a:prstGeom>
          <a:ln w="25400">
            <a:solidFill>
              <a:srgbClr val="20A36B"/>
            </a:solidFill>
            <a:tailEnd type="triangle"/>
          </a:ln>
        </p:spPr>
      </p:cxnSp>
      <p:cxnSp>
        <p:nvCxnSpPr>
          <p:cNvPr id="12" name="Arrow 12"/>
          <p:cNvCxnSpPr/>
          <p:nvPr/>
        </p:nvCxnSpPr>
        <p:spPr>
          <a:xfrm flipV="1">
            <a:off x="6693408" y="2706624"/>
            <a:ext cx="640079" cy="694944"/>
          </a:xfrm>
          <a:prstGeom prst="straightConnector1">
            <a:avLst/>
          </a:prstGeom>
          <a:ln w="25400">
            <a:solidFill>
              <a:srgbClr val="D84A4A"/>
            </a:solidFill>
            <a:tailEnd type="triangle"/>
          </a:ln>
        </p:spPr>
      </p:cxnSp>
      <p:sp>
        <p:nvSpPr>
          <p:cNvPr id="13" name="Box 13"/>
          <p:cNvSpPr/>
          <p:nvPr/>
        </p:nvSpPr>
        <p:spPr>
          <a:xfrm>
            <a:off x="7360920" y="20574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7057B8"/>
                </a:solidFill>
                <a:latin typeface="Microsoft YaHei"/>
                <a:ea typeface="Microsoft YaHei"/>
              </a:rPr>
              <a:t>策略决策</a:t>
            </a:r>
          </a:p>
          <a:p>
            <a:pPr algn="ctr"/>
            <a:r>
              <a:rPr lang="zh-CN" sz="1150" b="1">
                <a:solidFill>
                  <a:srgbClr val="7057B8"/>
                </a:solidFill>
                <a:latin typeface="Microsoft YaHei"/>
                <a:ea typeface="Microsoft YaHei"/>
              </a:rPr>
              <a:t>allow / warn</a:t>
            </a:r>
          </a:p>
          <a:p>
            <a:pPr algn="ctr"/>
            <a:r>
              <a:rPr lang="zh-CN" sz="1150" b="1">
                <a:solidFill>
                  <a:srgbClr val="7057B8"/>
                </a:solidFill>
                <a:latin typeface="Microsoft YaHei"/>
                <a:ea typeface="Microsoft YaHei"/>
              </a:rPr>
              <a:t>rewrite / block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8869680" y="2432304"/>
            <a:ext cx="640080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15" name="Box 15"/>
          <p:cNvSpPr/>
          <p:nvPr/>
        </p:nvSpPr>
        <p:spPr>
          <a:xfrm>
            <a:off x="9555480" y="2148840"/>
            <a:ext cx="1463040" cy="56692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FFFFFF"/>
                </a:solidFill>
                <a:latin typeface="Microsoft YaHei"/>
                <a:ea typeface="Microsoft YaHei"/>
              </a:rPr>
              <a:t>审计 + 告警 + 路由</a:t>
            </a:r>
          </a:p>
        </p:txBody>
      </p:sp>
      <p:sp>
        <p:nvSpPr>
          <p:cNvPr id="16" name="Box 16"/>
          <p:cNvSpPr/>
          <p:nvPr/>
        </p:nvSpPr>
        <p:spPr>
          <a:xfrm>
            <a:off x="896112" y="4937760"/>
            <a:ext cx="99669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50" b="1">
                <a:solidFill>
                  <a:srgbClr val="172033"/>
                </a:solidFill>
                <a:latin typeface="Microsoft YaHei"/>
                <a:ea typeface="Microsoft YaHei"/>
              </a:rPr>
              <a:t>性能原则：所有流量走快路径；AI 相关、高风险或已标注接口进入深度路径；模型复核与大文件解析异步化。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5. 未知 Web / IM Agent：从轻量观察到深度治理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面对自定义接口，先不假设语义；用识别、标注和旁路学习逐步收敛。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594360" y="1874519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全量轻量拦截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trace / path / method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基础 DLP / 风险标记</a:t>
            </a:r>
          </a:p>
        </p:txBody>
      </p:sp>
      <p:sp>
        <p:nvSpPr>
          <p:cNvPr id="6" name="Box 6"/>
          <p:cNvSpPr/>
          <p:nvPr/>
        </p:nvSpPr>
        <p:spPr>
          <a:xfrm>
            <a:off x="1097280" y="1389888"/>
            <a:ext cx="621792" cy="384048"/>
          </a:xfrm>
          <a:prstGeom prst="roundRect">
            <a:avLst/>
          </a:prstGeom>
          <a:solidFill>
            <a:srgbClr val="255C99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2240280" y="2432304"/>
            <a:ext cx="484631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sp>
        <p:nvSpPr>
          <p:cNvPr id="8" name="Box 8"/>
          <p:cNvSpPr/>
          <p:nvPr/>
        </p:nvSpPr>
        <p:spPr>
          <a:xfrm>
            <a:off x="2834640" y="1874519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AI 相关性识别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prompt / messages / stream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自然语言与模型字段</a:t>
            </a:r>
          </a:p>
        </p:txBody>
      </p:sp>
      <p:sp>
        <p:nvSpPr>
          <p:cNvPr id="9" name="Box 9"/>
          <p:cNvSpPr/>
          <p:nvPr/>
        </p:nvSpPr>
        <p:spPr>
          <a:xfrm>
            <a:off x="3337560" y="1389888"/>
            <a:ext cx="621792" cy="384048"/>
          </a:xfrm>
          <a:prstGeom prst="roundRect">
            <a:avLst/>
          </a:prstGeom>
          <a:solidFill>
            <a:srgbClr val="16A3B8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480560" y="2432304"/>
            <a:ext cx="484631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sp>
        <p:nvSpPr>
          <p:cNvPr id="11" name="Box 11"/>
          <p:cNvSpPr/>
          <p:nvPr/>
        </p:nvSpPr>
        <p:spPr>
          <a:xfrm>
            <a:off x="5074920" y="1874519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用户标注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方向 / 内容字段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用户字段 / 会话字段</a:t>
            </a:r>
          </a:p>
        </p:txBody>
      </p:sp>
      <p:sp>
        <p:nvSpPr>
          <p:cNvPr id="12" name="Box 12"/>
          <p:cNvSpPr/>
          <p:nvPr/>
        </p:nvSpPr>
        <p:spPr>
          <a:xfrm>
            <a:off x="5577840" y="1389888"/>
            <a:ext cx="621792" cy="384048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6720840" y="2432304"/>
            <a:ext cx="484632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sp>
        <p:nvSpPr>
          <p:cNvPr id="14" name="Box 14"/>
          <p:cNvSpPr/>
          <p:nvPr/>
        </p:nvSpPr>
        <p:spPr>
          <a:xfrm>
            <a:off x="7315200" y="1874519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深度治理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Prompt / RAG / 工具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响应泄露 / 外发控制</a:t>
            </a:r>
          </a:p>
        </p:txBody>
      </p:sp>
      <p:sp>
        <p:nvSpPr>
          <p:cNvPr id="15" name="Box 15"/>
          <p:cNvSpPr/>
          <p:nvPr/>
        </p:nvSpPr>
        <p:spPr>
          <a:xfrm>
            <a:off x="7818120" y="1389888"/>
            <a:ext cx="621792" cy="384048"/>
          </a:xfrm>
          <a:prstGeom prst="roundRect">
            <a:avLst/>
          </a:prstGeom>
          <a:solidFill>
            <a:srgbClr val="D84A4A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8961120" y="2432304"/>
            <a:ext cx="484631" cy="0"/>
          </a:xfrm>
          <a:prstGeom prst="straightConnector1">
            <a:avLst/>
          </a:prstGeom>
          <a:ln w="20320">
            <a:solidFill>
              <a:srgbClr val="5B667A"/>
            </a:solidFill>
            <a:tailEnd type="triangle"/>
          </a:ln>
        </p:spPr>
      </p:cxnSp>
      <p:sp>
        <p:nvSpPr>
          <p:cNvPr id="17" name="Box 17"/>
          <p:cNvSpPr/>
          <p:nvPr/>
        </p:nvSpPr>
        <p:spPr>
          <a:xfrm>
            <a:off x="9555480" y="1874519"/>
            <a:ext cx="16276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策略优化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误报评估</a:t>
            </a:r>
          </a:p>
          <a:p>
            <a:pPr algn="ctr"/>
            <a:r>
              <a:rPr lang="zh-CN" sz="1080" b="1">
                <a:solidFill>
                  <a:srgbClr val="172033"/>
                </a:solidFill>
                <a:latin typeface="Microsoft YaHei"/>
                <a:ea typeface="Microsoft YaHei"/>
              </a:rPr>
              <a:t>observe -&gt; enforce</a:t>
            </a:r>
          </a:p>
        </p:txBody>
      </p:sp>
      <p:sp>
        <p:nvSpPr>
          <p:cNvPr id="18" name="Box 18"/>
          <p:cNvSpPr/>
          <p:nvPr/>
        </p:nvSpPr>
        <p:spPr>
          <a:xfrm>
            <a:off x="10058400" y="1389888"/>
            <a:ext cx="621792" cy="384048"/>
          </a:xfrm>
          <a:prstGeom prst="roundRect">
            <a:avLst/>
          </a:prstGeom>
          <a:solidFill>
            <a:srgbClr val="20A36B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9" name="Box 19"/>
          <p:cNvSpPr/>
          <p:nvPr/>
        </p:nvSpPr>
        <p:spPr>
          <a:xfrm>
            <a:off x="914400" y="4160520"/>
            <a:ext cx="10058400" cy="8686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Microsoft YaHei"/>
                <a:ea typeface="Microsoft YaHei"/>
              </a:rPr>
              <a:t>价值：新接入默认不阻断业务，先形成“疑似 AI 接口建议”和 would-block 账本；确认后再对关键链路启用深度策略。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6. OpenClaw / Hermes 接入：协议适配，不复制安全逻辑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新增 Agent 时只新增适配器和协议翻译，治理能力保持统一。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411480" y="2148840"/>
            <a:ext cx="1143000" cy="102412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OpenClaw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Hermes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其他 Agent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1554480" y="2670048"/>
            <a:ext cx="338328" cy="0"/>
          </a:xfrm>
          <a:prstGeom prst="straightConnector1">
            <a:avLst/>
          </a:prstGeom>
          <a:ln w="17780">
            <a:solidFill>
              <a:srgbClr val="5B667A"/>
            </a:solidFill>
            <a:tailEnd type="triangle"/>
          </a:ln>
        </p:spPr>
      </p:cxnSp>
      <p:sp>
        <p:nvSpPr>
          <p:cNvPr id="7" name="Box 7"/>
          <p:cNvSpPr/>
          <p:nvPr/>
        </p:nvSpPr>
        <p:spPr>
          <a:xfrm>
            <a:off x="1920240" y="2148840"/>
            <a:ext cx="1143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AgentAdapter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3063240" y="2670048"/>
            <a:ext cx="347471" cy="0"/>
          </a:xfrm>
          <a:prstGeom prst="straightConnector1">
            <a:avLst/>
          </a:prstGeom>
          <a:ln w="17780">
            <a:solidFill>
              <a:srgbClr val="5B667A"/>
            </a:solidFill>
            <a:tailEnd type="triangle"/>
          </a:ln>
        </p:spPr>
      </p:cxnSp>
      <p:sp>
        <p:nvSpPr>
          <p:cNvPr id="9" name="Box 9"/>
          <p:cNvSpPr/>
          <p:nvPr/>
        </p:nvSpPr>
        <p:spPr>
          <a:xfrm>
            <a:off x="3438144" y="2148840"/>
            <a:ext cx="1280160" cy="1024128"/>
          </a:xfrm>
          <a:prstGeom prst="roundRect">
            <a:avLst/>
          </a:prstGeom>
          <a:solidFill>
            <a:srgbClr val="E8F8FB"/>
          </a:solidFill>
          <a:ln w="12700">
            <a:solidFill>
              <a:srgbClr val="16A3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统一调用模型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GatewayEnvelope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718304" y="2670048"/>
            <a:ext cx="329183" cy="0"/>
          </a:xfrm>
          <a:prstGeom prst="straightConnector1">
            <a:avLst/>
          </a:prstGeom>
          <a:ln w="17780">
            <a:solidFill>
              <a:srgbClr val="5B667A"/>
            </a:solidFill>
            <a:tailEnd type="triangle"/>
          </a:ln>
        </p:spPr>
      </p:cxnSp>
      <p:sp>
        <p:nvSpPr>
          <p:cNvPr id="11" name="Box 11"/>
          <p:cNvSpPr/>
          <p:nvPr/>
        </p:nvSpPr>
        <p:spPr>
          <a:xfrm>
            <a:off x="5074920" y="2148840"/>
            <a:ext cx="1600200" cy="1024128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统一治理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策略 / 审计 / 文件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LLM 检测 / 工具治理 / trace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675120" y="2670048"/>
            <a:ext cx="411480" cy="0"/>
          </a:xfrm>
          <a:prstGeom prst="straightConnector1">
            <a:avLst/>
          </a:prstGeom>
          <a:ln w="17780">
            <a:solidFill>
              <a:srgbClr val="5B667A"/>
            </a:solidFill>
            <a:tailEnd type="triangle"/>
          </a:ln>
        </p:spPr>
      </p:cxnSp>
      <p:sp>
        <p:nvSpPr>
          <p:cNvPr id="13" name="Box 13"/>
          <p:cNvSpPr/>
          <p:nvPr/>
        </p:nvSpPr>
        <p:spPr>
          <a:xfrm>
            <a:off x="7114032" y="2148840"/>
            <a:ext cx="111556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UpstreamRouter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8229600" y="2670048"/>
            <a:ext cx="292608" cy="0"/>
          </a:xfrm>
          <a:prstGeom prst="straightConnector1">
            <a:avLst/>
          </a:prstGeom>
          <a:ln w="17780">
            <a:solidFill>
              <a:srgbClr val="5B667A"/>
            </a:solidFill>
            <a:tailEnd type="triangle"/>
          </a:ln>
        </p:spPr>
      </p:cxnSp>
      <p:sp>
        <p:nvSpPr>
          <p:cNvPr id="15" name="Box 15"/>
          <p:cNvSpPr/>
          <p:nvPr/>
        </p:nvSpPr>
        <p:spPr>
          <a:xfrm>
            <a:off x="8549640" y="2148840"/>
            <a:ext cx="12344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ProtocolTranslator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9784080" y="2670048"/>
            <a:ext cx="292608" cy="0"/>
          </a:xfrm>
          <a:prstGeom prst="straightConnector1">
            <a:avLst/>
          </a:prstGeom>
          <a:ln w="17780">
            <a:solidFill>
              <a:srgbClr val="5B667A"/>
            </a:solidFill>
            <a:tailEnd type="triangle"/>
          </a:ln>
        </p:spPr>
      </p:cxnSp>
      <p:sp>
        <p:nvSpPr>
          <p:cNvPr id="17" name="Box 17"/>
          <p:cNvSpPr/>
          <p:nvPr/>
        </p:nvSpPr>
        <p:spPr>
          <a:xfrm>
            <a:off x="10104120" y="2148840"/>
            <a:ext cx="1325880" cy="1024128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目标 Agent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模型代理</a:t>
            </a:r>
          </a:p>
          <a:p>
            <a:pPr algn="ctr"/>
            <a:r>
              <a:rPr lang="zh-CN" sz="1019" b="1">
                <a:solidFill>
                  <a:srgbClr val="172033"/>
                </a:solidFill>
                <a:latin typeface="Microsoft YaHei"/>
                <a:ea typeface="Microsoft YaHei"/>
              </a:rPr>
              <a:t>工具服务</a:t>
            </a:r>
          </a:p>
        </p:txBody>
      </p:sp>
      <p:sp>
        <p:nvSpPr>
          <p:cNvPr id="18" name="Box 18"/>
          <p:cNvSpPr/>
          <p:nvPr/>
        </p:nvSpPr>
        <p:spPr>
          <a:xfrm>
            <a:off x="868680" y="4617720"/>
            <a:ext cx="3108960" cy="640080"/>
          </a:xfrm>
          <a:prstGeom prst="roundRect">
            <a:avLst/>
          </a:prstGeom>
          <a:solidFill>
            <a:srgbClr val="FFF3E3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差异留在适配层：鉴权、路径、会话、文件、回调、流式协议</a:t>
            </a:r>
          </a:p>
        </p:txBody>
      </p:sp>
      <p:sp>
        <p:nvSpPr>
          <p:cNvPr id="19" name="Box 19"/>
          <p:cNvSpPr/>
          <p:nvPr/>
        </p:nvSpPr>
        <p:spPr>
          <a:xfrm>
            <a:off x="4462272" y="4617720"/>
            <a:ext cx="3108960" cy="64008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统一留在治理层：检测、审计、文件保存、策略动作、trace</a:t>
            </a:r>
          </a:p>
        </p:txBody>
      </p:sp>
      <p:sp>
        <p:nvSpPr>
          <p:cNvPr id="20" name="Box 20"/>
          <p:cNvSpPr/>
          <p:nvPr/>
        </p:nvSpPr>
        <p:spPr>
          <a:xfrm>
            <a:off x="8046720" y="4617720"/>
            <a:ext cx="3108960" cy="6400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路由留在出口层：租户、应用、会话、健康状态、策略结果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7. 现场接入与部署：显式引流 + OpenResty 前置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核心策略是 URL/DNS 指向网关，网关持有自有域名证书，再作为客户端连接真实上游。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731520" y="1828800"/>
            <a:ext cx="1417320" cy="6400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业务系统</a:t>
            </a:r>
          </a:p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IM / Web / Agent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2148840" y="2148840"/>
            <a:ext cx="731519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7" name="Box 7"/>
          <p:cNvSpPr/>
          <p:nvPr/>
        </p:nvSpPr>
        <p:spPr>
          <a:xfrm>
            <a:off x="2926080" y="155448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255C99"/>
                </a:solidFill>
                <a:latin typeface="Microsoft YaHei"/>
                <a:ea typeface="Microsoft YaHei"/>
              </a:rPr>
              <a:t>OpenResty</a:t>
            </a:r>
          </a:p>
          <a:p>
            <a:pPr algn="ctr"/>
            <a:r>
              <a:rPr lang="zh-CN" sz="1100" b="1">
                <a:solidFill>
                  <a:srgbClr val="255C99"/>
                </a:solidFill>
                <a:latin typeface="Microsoft YaHei"/>
                <a:ea typeface="Microsoft YaHei"/>
              </a:rPr>
              <a:t>TLS 终止 / 路由缓存</a:t>
            </a:r>
          </a:p>
          <a:p>
            <a:pPr algn="ctr"/>
            <a:r>
              <a:rPr lang="zh-CN" sz="1100" b="1">
                <a:solidFill>
                  <a:srgbClr val="255C99"/>
                </a:solidFill>
                <a:latin typeface="Microsoft YaHei"/>
                <a:ea typeface="Microsoft YaHei"/>
              </a:rPr>
              <a:t>observe tap / enforce inline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4800600" y="2148840"/>
            <a:ext cx="731519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9" name="Box 9"/>
          <p:cNvSpPr/>
          <p:nvPr/>
        </p:nvSpPr>
        <p:spPr>
          <a:xfrm>
            <a:off x="5577840" y="1554480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00" b="1">
                <a:solidFill>
                  <a:srgbClr val="20A36B"/>
                </a:solidFill>
                <a:latin typeface="Microsoft YaHei"/>
                <a:ea typeface="Microsoft YaHei"/>
              </a:rPr>
              <a:t>lobster-guard</a:t>
            </a:r>
          </a:p>
          <a:p>
            <a:pPr algn="ctr"/>
            <a:r>
              <a:rPr lang="zh-CN" sz="1100" b="1">
                <a:solidFill>
                  <a:srgbClr val="20A36B"/>
                </a:solidFill>
                <a:latin typeface="Microsoft YaHei"/>
                <a:ea typeface="Microsoft YaHei"/>
              </a:rPr>
              <a:t>检测 / 策略 / 审计</a:t>
            </a:r>
          </a:p>
          <a:p>
            <a:pPr algn="ctr"/>
            <a:r>
              <a:rPr lang="zh-CN" sz="1100" b="1">
                <a:solidFill>
                  <a:srgbClr val="20A36B"/>
                </a:solidFill>
                <a:latin typeface="Microsoft YaHei"/>
                <a:ea typeface="Microsoft YaHei"/>
              </a:rPr>
              <a:t>文件保存 / trace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7452360" y="2148840"/>
            <a:ext cx="731519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11" name="Box 11"/>
          <p:cNvSpPr/>
          <p:nvPr/>
        </p:nvSpPr>
        <p:spPr>
          <a:xfrm>
            <a:off x="8229600" y="1828800"/>
            <a:ext cx="1554480" cy="640080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真实上游</a:t>
            </a:r>
          </a:p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模型 / API / 数据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26080" y="292608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ctr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edge_routes：按 Host / SNI + Path 找回原始 upstream，支持 observe / enforce 粒度控制</a:t>
            </a:r>
          </a:p>
        </p:txBody>
      </p:sp>
      <p:sp>
        <p:nvSpPr>
          <p:cNvPr id="13" name="Box 13"/>
          <p:cNvSpPr/>
          <p:nvPr/>
        </p:nvSpPr>
        <p:spPr>
          <a:xfrm>
            <a:off x="960120" y="4434840"/>
            <a:ext cx="29077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PoC / 试点</a:t>
            </a:r>
          </a:p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单台 OpenResty</a:t>
            </a:r>
          </a:p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自动 fail-open</a:t>
            </a:r>
          </a:p>
        </p:txBody>
      </p:sp>
      <p:sp>
        <p:nvSpPr>
          <p:cNvPr id="14" name="Box 14"/>
          <p:cNvSpPr/>
          <p:nvPr/>
        </p:nvSpPr>
        <p:spPr>
          <a:xfrm>
            <a:off x="4663440" y="4434840"/>
            <a:ext cx="29077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生产环境</a:t>
            </a:r>
          </a:p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客户已有网关 / LB</a:t>
            </a:r>
          </a:p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托管高可用</a:t>
            </a:r>
          </a:p>
        </p:txBody>
      </p:sp>
      <p:sp>
        <p:nvSpPr>
          <p:cNvPr id="15" name="Box 15"/>
          <p:cNvSpPr/>
          <p:nvPr/>
        </p:nvSpPr>
        <p:spPr>
          <a:xfrm>
            <a:off x="8366760" y="4434840"/>
            <a:ext cx="29077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8C2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私有机房</a:t>
            </a:r>
          </a:p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双机 keepalived</a:t>
            </a:r>
          </a:p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VIP 漂移</a:t>
            </a:r>
          </a:p>
        </p:txBody>
      </p:sp>
      <p:sp>
        <p:nvSpPr>
          <p:cNvPr id="16" name="Box 16"/>
          <p:cNvSpPr/>
          <p:nvPr/>
        </p:nvSpPr>
        <p:spPr>
          <a:xfrm>
            <a:off x="1051560" y="5669280"/>
            <a:ext cx="10012680" cy="347472"/>
          </a:xfrm>
          <a:prstGeom prst="roundRect">
            <a:avLst/>
          </a:prstGeom>
          <a:solidFill>
            <a:srgbClr val="FDEDEE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150" b="1">
                <a:solidFill>
                  <a:srgbClr val="172033"/>
                </a:solidFill>
                <a:latin typeface="Microsoft YaHei"/>
                <a:ea typeface="Microsoft YaHei"/>
              </a:rPr>
              <a:t>fail-open 只针对网关不可用；403 / 429 / confirm / block 等安全策略结果不允许 bypass。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8. 双模式与落地路径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30352" y="75895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050">
                <a:solidFill>
                  <a:srgbClr val="5B667A"/>
                </a:solidFill>
                <a:latin typeface="Microsoft YaHei"/>
                <a:ea typeface="Microsoft YaHei"/>
              </a:rPr>
              <a:t>检测和拦截复用同一套安全引擎，区别在于是否进入主链路并采用阻断结果。</a:t>
            </a:r>
          </a:p>
        </p:txBody>
      </p:sp>
      <p:sp>
        <p:nvSpPr>
          <p:cNvPr id="4" name="Box 4"/>
          <p:cNvSpPr/>
          <p:nvPr/>
        </p:nvSpPr>
        <p:spPr>
          <a:xfrm>
            <a:off x="502920" y="1097280"/>
            <a:ext cx="11201400" cy="18288"/>
          </a:xfrm>
          <a:prstGeom prst="rect">
            <a:avLst/>
          </a:prstGeom>
          <a:solidFill>
            <a:srgbClr val="D7DDE8"/>
          </a:solidFill>
          <a:ln w="12700">
            <a:solidFill>
              <a:srgbClr val="D7DDE8"/>
            </a:solidFill>
          </a:ln>
        </p:spPr>
      </p:sp>
      <p:sp>
        <p:nvSpPr>
          <p:cNvPr id="5" name="Box 5"/>
          <p:cNvSpPr/>
          <p:nvPr/>
        </p:nvSpPr>
        <p:spPr>
          <a:xfrm>
            <a:off x="685800" y="1508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5C99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96112" y="171907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600" b="1">
                <a:solidFill>
                  <a:srgbClr val="255C99"/>
                </a:solidFill>
                <a:latin typeface="Microsoft YaHei"/>
                <a:ea typeface="Microsoft YaHei"/>
              </a:rPr>
              <a:t>observe 检测</a:t>
            </a:r>
          </a:p>
        </p:txBody>
      </p:sp>
      <p:sp>
        <p:nvSpPr>
          <p:cNvPr id="7" name="Box 7"/>
          <p:cNvSpPr/>
          <p:nvPr/>
        </p:nvSpPr>
        <p:spPr>
          <a:xfrm>
            <a:off x="960120" y="2331720"/>
            <a:ext cx="960120" cy="3657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业务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1920240" y="2514600"/>
            <a:ext cx="749807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9" name="Box 9"/>
          <p:cNvSpPr/>
          <p:nvPr/>
        </p:nvSpPr>
        <p:spPr>
          <a:xfrm>
            <a:off x="2697480" y="2331720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OpenResty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3657600" y="2514600"/>
            <a:ext cx="749808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11" name="Box 11"/>
          <p:cNvSpPr/>
          <p:nvPr/>
        </p:nvSpPr>
        <p:spPr>
          <a:xfrm>
            <a:off x="4434840" y="2331720"/>
            <a:ext cx="960120" cy="36576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上游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3182112" y="2724912"/>
            <a:ext cx="0" cy="429768"/>
          </a:xfrm>
          <a:prstGeom prst="straightConnector1">
            <a:avLst/>
          </a:prstGeom>
          <a:ln w="15240">
            <a:solidFill>
              <a:srgbClr val="255C99"/>
            </a:solidFill>
            <a:prstDash val="dash"/>
            <a:tail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3346704" y="293522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950">
                <a:solidFill>
                  <a:srgbClr val="5B667A"/>
                </a:solidFill>
                <a:latin typeface="Microsoft YaHei"/>
                <a:ea typeface="Microsoft YaHei"/>
              </a:rPr>
              <a:t>异步 tap，记录 would-block</a:t>
            </a:r>
          </a:p>
        </p:txBody>
      </p:sp>
      <p:sp>
        <p:nvSpPr>
          <p:cNvPr id="14" name="Box 14"/>
          <p:cNvSpPr/>
          <p:nvPr/>
        </p:nvSpPr>
        <p:spPr>
          <a:xfrm>
            <a:off x="6355080" y="1508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4A4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65392" y="1719072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l"/>
            <a:r>
              <a:rPr lang="zh-CN" sz="1600" b="1">
                <a:solidFill>
                  <a:srgbClr val="D84A4A"/>
                </a:solidFill>
                <a:latin typeface="Microsoft YaHei"/>
                <a:ea typeface="Microsoft YaHei"/>
              </a:rPr>
              <a:t>enforce 拦截</a:t>
            </a:r>
          </a:p>
        </p:txBody>
      </p:sp>
      <p:sp>
        <p:nvSpPr>
          <p:cNvPr id="16" name="Box 16"/>
          <p:cNvSpPr/>
          <p:nvPr/>
        </p:nvSpPr>
        <p:spPr>
          <a:xfrm>
            <a:off x="6629400" y="2331720"/>
            <a:ext cx="960120" cy="3657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业务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7589520" y="2514600"/>
            <a:ext cx="566927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18" name="Box 18"/>
          <p:cNvSpPr/>
          <p:nvPr/>
        </p:nvSpPr>
        <p:spPr>
          <a:xfrm>
            <a:off x="8183879" y="2331720"/>
            <a:ext cx="9601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E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OpenResty</a:t>
            </a:r>
          </a:p>
        </p:txBody>
      </p:sp>
      <p:cxnSp>
        <p:nvCxnSpPr>
          <p:cNvPr id="19" name="Arrow 19"/>
          <p:cNvCxnSpPr/>
          <p:nvPr/>
        </p:nvCxnSpPr>
        <p:spPr>
          <a:xfrm>
            <a:off x="9144000" y="2514600"/>
            <a:ext cx="566927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20" name="Box 20"/>
          <p:cNvSpPr/>
          <p:nvPr/>
        </p:nvSpPr>
        <p:spPr>
          <a:xfrm>
            <a:off x="9738360" y="2331720"/>
            <a:ext cx="1051560" cy="365760"/>
          </a:xfrm>
          <a:prstGeom prst="roundRect">
            <a:avLst/>
          </a:prstGeom>
          <a:solidFill>
            <a:srgbClr val="FDEDEE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治理引擎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10789920" y="2514600"/>
            <a:ext cx="411479" cy="0"/>
          </a:xfrm>
          <a:prstGeom prst="straightConnector1">
            <a:avLst/>
          </a:prstGeom>
          <a:ln w="25400">
            <a:solidFill>
              <a:srgbClr val="5B667A"/>
            </a:solidFill>
            <a:tailEnd type="triangle"/>
          </a:ln>
        </p:spPr>
      </p:cxnSp>
      <p:sp>
        <p:nvSpPr>
          <p:cNvPr id="22" name="Box 22"/>
          <p:cNvSpPr/>
          <p:nvPr/>
        </p:nvSpPr>
        <p:spPr>
          <a:xfrm>
            <a:off x="11228832" y="2331720"/>
            <a:ext cx="685800" cy="36576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950" b="1">
                <a:solidFill>
                  <a:srgbClr val="172033"/>
                </a:solidFill>
                <a:latin typeface="Microsoft YaHei"/>
                <a:ea typeface="Microsoft YaHei"/>
              </a:rPr>
              <a:t>上游</a:t>
            </a:r>
          </a:p>
        </p:txBody>
      </p:sp>
      <p:sp>
        <p:nvSpPr>
          <p:cNvPr id="23" name="Box 23"/>
          <p:cNvSpPr/>
          <p:nvPr/>
        </p:nvSpPr>
        <p:spPr>
          <a:xfrm>
            <a:off x="777240" y="4434840"/>
            <a:ext cx="2240280" cy="80467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255C99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阶段 1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edge_routes + tap ingest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形成接口画像与 would-block 账本</a:t>
            </a:r>
          </a:p>
        </p:txBody>
      </p:sp>
      <p:cxnSp>
        <p:nvCxnSpPr>
          <p:cNvPr id="24" name="Arrow 24"/>
          <p:cNvCxnSpPr/>
          <p:nvPr/>
        </p:nvCxnSpPr>
        <p:spPr>
          <a:xfrm>
            <a:off x="3017520" y="4837176"/>
            <a:ext cx="521207" cy="0"/>
          </a:xfrm>
          <a:prstGeom prst="straightConnector1">
            <a:avLst/>
          </a:prstGeom>
          <a:ln w="16510">
            <a:solidFill>
              <a:srgbClr val="5B667A"/>
            </a:solidFill>
            <a:tailEnd type="triangle"/>
          </a:ln>
        </p:spPr>
      </p:cxnSp>
      <p:sp>
        <p:nvSpPr>
          <p:cNvPr id="25" name="Box 25"/>
          <p:cNvSpPr/>
          <p:nvPr/>
        </p:nvSpPr>
        <p:spPr>
          <a:xfrm>
            <a:off x="3611880" y="4434840"/>
            <a:ext cx="2240280" cy="80467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20A36B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阶段 2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LLM / Tool 核心链路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接入统一信封与策略动作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5852160" y="4837176"/>
            <a:ext cx="521208" cy="0"/>
          </a:xfrm>
          <a:prstGeom prst="straightConnector1">
            <a:avLst/>
          </a:prstGeom>
          <a:ln w="16510">
            <a:solidFill>
              <a:srgbClr val="5B667A"/>
            </a:solidFill>
            <a:tailEnd type="triangle"/>
          </a:ln>
        </p:spPr>
      </p:cxnSp>
      <p:sp>
        <p:nvSpPr>
          <p:cNvPr id="27" name="Box 27"/>
          <p:cNvSpPr/>
          <p:nvPr/>
        </p:nvSpPr>
        <p:spPr>
          <a:xfrm>
            <a:off x="6446520" y="4434840"/>
            <a:ext cx="2240280" cy="804672"/>
          </a:xfrm>
          <a:prstGeom prst="roundRect">
            <a:avLst/>
          </a:prstGeom>
          <a:solidFill>
            <a:srgbClr val="FDEDEE"/>
          </a:solidFill>
          <a:ln w="12700">
            <a:solidFill>
              <a:srgbClr val="D84A4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阶段 3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高风险路由升 enforce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支持 rewrite / confirm / block</a:t>
            </a:r>
          </a:p>
        </p:txBody>
      </p:sp>
      <p:cxnSp>
        <p:nvCxnSpPr>
          <p:cNvPr id="28" name="Arrow 28"/>
          <p:cNvCxnSpPr/>
          <p:nvPr/>
        </p:nvCxnSpPr>
        <p:spPr>
          <a:xfrm>
            <a:off x="8686800" y="4837176"/>
            <a:ext cx="521208" cy="0"/>
          </a:xfrm>
          <a:prstGeom prst="straightConnector1">
            <a:avLst/>
          </a:prstGeom>
          <a:ln w="16510">
            <a:solidFill>
              <a:srgbClr val="5B667A"/>
            </a:solidFill>
            <a:tailEnd type="triangle"/>
          </a:ln>
        </p:spPr>
      </p:cxnSp>
      <p:sp>
        <p:nvSpPr>
          <p:cNvPr id="29" name="Box 29"/>
          <p:cNvSpPr/>
          <p:nvPr/>
        </p:nvSpPr>
        <p:spPr>
          <a:xfrm>
            <a:off x="9281160" y="4434840"/>
            <a:ext cx="2240280" cy="804672"/>
          </a:xfrm>
          <a:prstGeom prst="roundRect">
            <a:avLst/>
          </a:prstGeom>
          <a:solidFill>
            <a:srgbClr val="F2EEFF"/>
          </a:solidFill>
          <a:ln w="12700">
            <a:solidFill>
              <a:srgbClr val="7057B8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阶段 4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文件与多模态异步增强</a:t>
            </a:r>
          </a:p>
          <a:p>
            <a:pPr algn="ctr"/>
            <a:r>
              <a:rPr lang="zh-CN" sz="1050" b="1">
                <a:solidFill>
                  <a:srgbClr val="172033"/>
                </a:solidFill>
                <a:latin typeface="Microsoft YaHei"/>
                <a:ea typeface="Microsoft YaHei"/>
              </a:rPr>
              <a:t>完善告警、取证和回放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7280" y="5833872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op" lIns="18288" tIns="18288" rIns="18288" bIns="18288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Microsoft YaHei"/>
                <a:ea typeface="Microsoft YaHei"/>
              </a:rPr>
              <a:t>最终目标：用低风险接入建立可观测性，再把稳定、高风险的 AI 链路逐步切到强治理。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bsterGuard">
  <a:themeElements>
    <a:clrScheme name="LobsterGuard">
      <a:dk1>
        <a:srgbClr val="172033"/>
      </a:dk1>
      <a:lt1>
        <a:srgbClr val="FFFFFF"/>
      </a:lt1>
      <a:dk2>
        <a:srgbClr val="255C99"/>
      </a:dk2>
      <a:lt2>
        <a:srgbClr val="F7F8FA"/>
      </a:lt2>
      <a:accent1>
        <a:srgbClr val="255C99"/>
      </a:accent1>
      <a:accent2>
        <a:srgbClr val="16A3B8"/>
      </a:accent2>
      <a:accent3>
        <a:srgbClr val="20A36B"/>
      </a:accent3>
      <a:accent4>
        <a:srgbClr val="F28C28"/>
      </a:accent4>
      <a:accent5>
        <a:srgbClr val="D84A4A"/>
      </a:accent5>
      <a:accent6>
        <a:srgbClr val="7057B8"/>
      </a:accent6>
      <a:hlink>
        <a:srgbClr val="255C99"/>
      </a:hlink>
      <a:folHlink>
        <a:srgbClr val="7057B8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lean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16:9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智能网关设计汇报</dc:title>
  <dc:creator>Codex</dc:creator>
  <cp:lastModifiedBy>Codex</cp:lastModifiedBy>
</cp:coreProperties>
</file>